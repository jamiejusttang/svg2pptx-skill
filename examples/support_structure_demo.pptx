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040475" cy="523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9040475" cy="5238750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295275" y="342900"/>
            <a:ext cx="7903940" cy="4552950"/>
            <a:chOff x="295275" y="342900"/>
            <a:chExt cx="7903940" cy="4552950"/>
          </a:xfrm>
        </p:grpSpPr>
        <p:sp>
          <p:nvSpPr>
            <p:cNvPr id="3" name="Rectangle 3"/>
            <p:cNvSpPr/>
            <p:nvPr/>
          </p:nvSpPr>
          <p:spPr>
            <a:xfrm>
              <a:off x="295275" y="342900"/>
              <a:ext cx="7391400" cy="4552950"/>
            </a:xfrm>
            <a:prstGeom prst="roundRect">
              <a:avLst>
                <a:gd name="adj" fmla="val 6695"/>
              </a:avLst>
            </a:prstGeom>
            <a:gradFill>
              <a:gsLst>
                <a:gs pos="0">
                  <a:srgbClr val="EEF4FA"/>
                </a:gs>
                <a:gs pos="52000">
                  <a:srgbClr val="EEF4FA"/>
                </a:gs>
                <a:gs pos="100000">
                  <a:srgbClr val="EEF4FA"/>
                </a:gs>
              </a:gsLst>
              <a:lin ang="5400000" scaled="1"/>
            </a:gradFill>
            <a:ln w="38100">
              <a:solidFill>
                <a:srgbClr val="002060"/>
              </a:solidFill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1257300" y="600075"/>
              <a:ext cx="6941915" cy="609600"/>
              <a:chOff x="1257300" y="600075"/>
              <a:chExt cx="6941915" cy="609600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1257300" y="600075"/>
                <a:ext cx="3079575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</a:rPr>
                  <a:t>Human dialogue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4183380" y="678180"/>
                <a:ext cx="401583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</a:rPr>
                  <a:t>Grounding (interaction-side)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09600" y="1739265"/>
              <a:ext cx="7044832" cy="994410"/>
              <a:chOff x="609600" y="1739265"/>
              <a:chExt cx="7044832" cy="99441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828800"/>
                <a:ext cx="1790700" cy="904875"/>
              </a:xfrm>
              <a:prstGeom prst="roundRect">
                <a:avLst>
                  <a:gd name="adj" fmla="val 22105"/>
                </a:avLst>
              </a:prstGeom>
              <a:solidFill>
                <a:srgbClr val="FEFEFE"/>
              </a:solidFill>
              <a:ln w="38100">
                <a:solidFill>
                  <a:srgbClr val="002060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676900" y="1828800"/>
                <a:ext cx="1724025" cy="904875"/>
              </a:xfrm>
              <a:prstGeom prst="roundRect">
                <a:avLst>
                  <a:gd name="adj" fmla="val 22105"/>
                </a:avLst>
              </a:prstGeom>
              <a:solidFill>
                <a:srgbClr val="FEFEFE"/>
              </a:solidFill>
              <a:ln w="38100">
                <a:solidFill>
                  <a:srgbClr val="00206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70572" y="2092166"/>
                <a:ext cx="1919288" cy="47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20" dirty="0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</a:rPr>
                  <a:t>Compression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52172" y="2092166"/>
                <a:ext cx="1702260" cy="47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20" dirty="0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</a:rPr>
                  <a:t>Portability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2638425" y="2281238"/>
                <a:ext cx="2809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09875" h="9525">
                    <a:moveTo>
                      <a:pt x="0" y="0"/>
                    </a:moveTo>
                    <a:lnTo>
                      <a:pt x="2809875" y="0"/>
                    </a:lnTo>
                  </a:path>
                </a:pathLst>
              </a:custGeom>
              <a:noFill/>
              <a:ln w="71438" cap="rnd">
                <a:solidFill>
                  <a:srgbClr val="002060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2514600" y="2162175"/>
                <a:ext cx="238125" cy="23812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5329238" y="2162175"/>
                <a:ext cx="238125" cy="23812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234690" y="1739265"/>
                <a:ext cx="195515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b="1" dirty="0">
                    <a:solidFill>
                      <a:srgbClr val="002060"/>
                    </a:solidFill>
                    <a:latin typeface="Arial Narrow"/>
                    <a:ea typeface="Arial Narrow"/>
                    <a:cs typeface="Arial Narrow"/>
                  </a:rPr>
                  <a:t>COUPLED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800350" y="3057525"/>
              <a:ext cx="2333625" cy="1000125"/>
              <a:chOff x="2800350" y="3057525"/>
              <a:chExt cx="2333625" cy="10001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800350" y="3095625"/>
                <a:ext cx="876300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733425">
                    <a:moveTo>
                      <a:pt x="228600" y="0"/>
                    </a:moveTo>
                    <a:lnTo>
                      <a:pt x="638175" y="0"/>
                    </a:lnTo>
                    <a:cubicBezTo>
                      <a:pt x="771525" y="0"/>
                      <a:pt x="876300" y="104775"/>
                      <a:pt x="876300" y="238125"/>
                    </a:cubicBezTo>
                    <a:lnTo>
                      <a:pt x="876300" y="352425"/>
                    </a:lnTo>
                    <a:cubicBezTo>
                      <a:pt x="876300" y="485775"/>
                      <a:pt x="771525" y="590550"/>
                      <a:pt x="638175" y="590550"/>
                    </a:cubicBezTo>
                    <a:lnTo>
                      <a:pt x="323850" y="590550"/>
                    </a:lnTo>
                    <a:lnTo>
                      <a:pt x="114300" y="733425"/>
                    </a:lnTo>
                    <a:lnTo>
                      <a:pt x="161925" y="552450"/>
                    </a:lnTo>
                    <a:cubicBezTo>
                      <a:pt x="57150" y="514350"/>
                      <a:pt x="0" y="428625"/>
                      <a:pt x="0" y="314325"/>
                    </a:cubicBezTo>
                    <a:lnTo>
                      <a:pt x="0" y="238125"/>
                    </a:lnTo>
                    <a:cubicBezTo>
                      <a:pt x="0" y="104775"/>
                      <a:pt x="95250" y="0"/>
                      <a:pt x="2286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EF4FA"/>
                  </a:gs>
                  <a:gs pos="52000">
                    <a:srgbClr val="EEF4FA"/>
                  </a:gs>
                  <a:gs pos="100000">
                    <a:srgbClr val="EEF4FA"/>
                  </a:gs>
                </a:gsLst>
                <a:lin ang="5400000" scaled="1"/>
              </a:gradFill>
              <a:ln w="33338" cap="rnd">
                <a:solidFill>
                  <a:srgbClr val="002060"/>
                </a:solidFill>
                <a:round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248025" y="3333750"/>
                <a:ext cx="8667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723900">
                    <a:moveTo>
                      <a:pt x="266700" y="0"/>
                    </a:moveTo>
                    <a:lnTo>
                      <a:pt x="628650" y="0"/>
                    </a:lnTo>
                    <a:cubicBezTo>
                      <a:pt x="762000" y="0"/>
                      <a:pt x="866775" y="104775"/>
                      <a:pt x="866775" y="238125"/>
                    </a:cubicBezTo>
                    <a:lnTo>
                      <a:pt x="866775" y="352425"/>
                    </a:lnTo>
                    <a:cubicBezTo>
                      <a:pt x="866775" y="485775"/>
                      <a:pt x="762000" y="590550"/>
                      <a:pt x="628650" y="590550"/>
                    </a:cubicBezTo>
                    <a:lnTo>
                      <a:pt x="523875" y="590550"/>
                    </a:lnTo>
                    <a:lnTo>
                      <a:pt x="523875" y="723900"/>
                    </a:lnTo>
                    <a:lnTo>
                      <a:pt x="333375" y="590550"/>
                    </a:lnTo>
                    <a:lnTo>
                      <a:pt x="238125" y="590550"/>
                    </a:lnTo>
                    <a:cubicBezTo>
                      <a:pt x="104775" y="590550"/>
                      <a:pt x="0" y="485775"/>
                      <a:pt x="0" y="352425"/>
                    </a:cubicBezTo>
                    <a:lnTo>
                      <a:pt x="0" y="238125"/>
                    </a:lnTo>
                    <a:cubicBezTo>
                      <a:pt x="0" y="104775"/>
                      <a:pt x="104775" y="0"/>
                      <a:pt x="2381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EF4FA"/>
                  </a:gs>
                  <a:gs pos="52000">
                    <a:srgbClr val="EEF4FA"/>
                  </a:gs>
                  <a:gs pos="100000">
                    <a:srgbClr val="EEF4FA"/>
                  </a:gs>
                </a:gsLst>
                <a:lin ang="5400000" scaled="1"/>
              </a:gradFill>
              <a:ln w="33338" cap="rnd">
                <a:solidFill>
                  <a:srgbClr val="002060"/>
                </a:solidFill>
                <a:round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448050" y="3581400"/>
                <a:ext cx="476250" cy="95250"/>
                <a:chOff x="3448050" y="3581400"/>
                <a:chExt cx="476250" cy="95250"/>
              </a:xfrm>
            </p:grpSpPr>
            <p:sp>
              <p:nvSpPr>
                <p:cNvPr id="18" name="Ellipse 18"/>
                <p:cNvSpPr/>
                <p:nvPr/>
              </p:nvSpPr>
              <p:spPr>
                <a:xfrm>
                  <a:off x="3448050" y="3581400"/>
                  <a:ext cx="95250" cy="95250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>
                  <a:off x="3638550" y="3581400"/>
                  <a:ext cx="95250" cy="95250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3829050" y="3581400"/>
                  <a:ext cx="95250" cy="95250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</p:sp>
          </p:grpSp>
          <p:sp>
            <p:nvSpPr>
              <p:cNvPr id="22" name="Freeform 22"/>
              <p:cNvSpPr/>
              <p:nvPr/>
            </p:nvSpPr>
            <p:spPr>
              <a:xfrm>
                <a:off x="4333875" y="3057525"/>
                <a:ext cx="71437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323850">
                    <a:moveTo>
                      <a:pt x="0" y="323850"/>
                    </a:moveTo>
                    <a:cubicBezTo>
                      <a:pt x="66675" y="114300"/>
                      <a:pt x="247650" y="0"/>
                      <a:pt x="428625" y="19050"/>
                    </a:cubicBezTo>
                    <a:cubicBezTo>
                      <a:pt x="561975" y="28575"/>
                      <a:pt x="666750" y="114300"/>
                      <a:pt x="714375" y="219075"/>
                    </a:cubicBezTo>
                  </a:path>
                </a:pathLst>
              </a:custGeom>
              <a:noFill/>
              <a:ln w="33338" cap="rnd">
                <a:solidFill>
                  <a:srgbClr val="002060"/>
                </a:solidFill>
                <a:round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305300" y="3276600"/>
                <a:ext cx="1333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04775">
                    <a:moveTo>
                      <a:pt x="28575" y="104775"/>
                    </a:moveTo>
                    <a:lnTo>
                      <a:pt x="0" y="0"/>
                    </a:lnTo>
                    <a:moveTo>
                      <a:pt x="28575" y="104775"/>
                    </a:moveTo>
                    <a:lnTo>
                      <a:pt x="133350" y="66675"/>
                    </a:lnTo>
                  </a:path>
                </a:pathLst>
              </a:custGeom>
              <a:noFill/>
              <a:ln w="33338" cap="rnd">
                <a:solidFill>
                  <a:srgbClr val="002060"/>
                </a:solidFill>
                <a:round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371975" y="3448050"/>
                <a:ext cx="7620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14325">
                    <a:moveTo>
                      <a:pt x="762000" y="0"/>
                    </a:moveTo>
                    <a:cubicBezTo>
                      <a:pt x="723900" y="209550"/>
                      <a:pt x="552450" y="314325"/>
                      <a:pt x="361950" y="314325"/>
                    </a:cubicBezTo>
                    <a:cubicBezTo>
                      <a:pt x="209550" y="314325"/>
                      <a:pt x="66675" y="238125"/>
                      <a:pt x="0" y="104775"/>
                    </a:cubicBezTo>
                  </a:path>
                </a:pathLst>
              </a:custGeom>
              <a:noFill/>
              <a:ln w="33338" cap="rnd">
                <a:solidFill>
                  <a:srgbClr val="002060"/>
                </a:solidFill>
                <a:round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029200" y="34480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0"/>
                    </a:moveTo>
                    <a:lnTo>
                      <a:pt x="0" y="38100"/>
                    </a:lnTo>
                    <a:moveTo>
                      <a:pt x="104775" y="0"/>
                    </a:moveTo>
                    <a:lnTo>
                      <a:pt x="76200" y="104775"/>
                    </a:lnTo>
                  </a:path>
                </a:pathLst>
              </a:custGeom>
              <a:noFill/>
              <a:ln w="33338" cap="rnd">
                <a:solidFill>
                  <a:srgbClr val="002060"/>
                </a:solidFill>
                <a:round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504122" y="4235291"/>
              <a:ext cx="4198072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320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support sits on interaction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32420" y="1412558"/>
            <a:ext cx="3949446" cy="1254442"/>
            <a:chOff x="7932420" y="1412558"/>
            <a:chExt cx="3949446" cy="1254442"/>
          </a:xfrm>
        </p:grpSpPr>
        <p:sp>
          <p:nvSpPr>
            <p:cNvPr id="29" name="TextBox 29"/>
            <p:cNvSpPr txBox="1"/>
            <p:nvPr/>
          </p:nvSpPr>
          <p:spPr>
            <a:xfrm>
              <a:off x="7932420" y="1412558"/>
              <a:ext cx="39494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i="1" dirty="0">
                  <a:solidFill>
                    <a:srgbClr val="243B60"/>
                  </a:solidFill>
                  <a:latin typeface="Calibri"/>
                  <a:ea typeface="Calibri"/>
                  <a:cs typeface="Calibri"/>
                </a:rPr>
                <a:t>support-structure shift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943850" y="1905000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0" y="238125"/>
                  </a:moveTo>
                  <a:lnTo>
                    <a:pt x="2314575" y="238125"/>
                  </a:lnTo>
                  <a:lnTo>
                    <a:pt x="2314575" y="0"/>
                  </a:lnTo>
                  <a:lnTo>
                    <a:pt x="2762250" y="376238"/>
                  </a:lnTo>
                  <a:lnTo>
                    <a:pt x="2314575" y="762000"/>
                  </a:lnTo>
                  <a:lnTo>
                    <a:pt x="2314575" y="533400"/>
                  </a:lnTo>
                  <a:lnTo>
                    <a:pt x="0" y="533400"/>
                  </a:lnTo>
                  <a:close/>
                </a:path>
              </a:pathLst>
            </a:custGeom>
            <a:gradFill>
              <a:gsLst>
                <a:gs pos="0">
                  <a:srgbClr val="71829B"/>
                </a:gs>
                <a:gs pos="50000">
                  <a:srgbClr val="78889F"/>
                </a:gs>
                <a:gs pos="100000">
                  <a:srgbClr val="7E8DA4"/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102" name="Group 102"/>
          <p:cNvGrpSpPr/>
          <p:nvPr/>
        </p:nvGrpSpPr>
        <p:grpSpPr>
          <a:xfrm>
            <a:off x="10982325" y="333375"/>
            <a:ext cx="9368790" cy="4562475"/>
            <a:chOff x="10982325" y="333375"/>
            <a:chExt cx="9368790" cy="4562475"/>
          </a:xfrm>
        </p:grpSpPr>
        <p:sp>
          <p:nvSpPr>
            <p:cNvPr id="32" name="Rectangle 32"/>
            <p:cNvSpPr/>
            <p:nvPr/>
          </p:nvSpPr>
          <p:spPr>
            <a:xfrm>
              <a:off x="10982325" y="333375"/>
              <a:ext cx="7791450" cy="4562475"/>
            </a:xfrm>
            <a:prstGeom prst="roundRect">
              <a:avLst>
                <a:gd name="adj" fmla="val 6681"/>
              </a:avLst>
            </a:prstGeom>
            <a:gradFill>
              <a:gsLst>
                <a:gs pos="0">
                  <a:srgbClr val="FEF3EF"/>
                </a:gs>
                <a:gs pos="52000">
                  <a:srgbClr val="FEF3EF"/>
                </a:gs>
                <a:gs pos="100000">
                  <a:srgbClr val="FEF3EF"/>
                </a:gs>
              </a:gsLst>
              <a:lin ang="5400000" scaled="1"/>
            </a:gradFill>
            <a:ln w="38100">
              <a:solidFill>
                <a:srgbClr val="E1260B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1286172" y="601504"/>
              <a:ext cx="9064943" cy="624840"/>
              <a:chOff x="11286172" y="601504"/>
              <a:chExt cx="9064943" cy="62484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11286172" y="601504"/>
                <a:ext cx="3673229" cy="624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80" b="1" dirty="0">
                    <a:solidFill>
                      <a:srgbClr val="E1260B"/>
                    </a:solidFill>
                    <a:latin typeface="Calibri"/>
                    <a:ea typeface="Calibri"/>
                    <a:cs typeface="Calibri"/>
                  </a:rPr>
                  <a:t>AI-native society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4137005" y="687705"/>
                <a:ext cx="621411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rgbClr val="E1260B"/>
                    </a:solidFill>
                    <a:latin typeface="Calibri"/>
                    <a:ea typeface="Calibri"/>
                    <a:cs typeface="Calibri"/>
                  </a:rPr>
                  <a:t>shared priors → Circulation (population-side)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1239500" y="1828800"/>
              <a:ext cx="7330582" cy="1100138"/>
              <a:chOff x="11239500" y="1828800"/>
              <a:chExt cx="7330582" cy="1100138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11239500" y="1828800"/>
                <a:ext cx="1781175" cy="904875"/>
              </a:xfrm>
              <a:prstGeom prst="roundRect">
                <a:avLst>
                  <a:gd name="adj" fmla="val 22105"/>
                </a:avLst>
              </a:prstGeom>
              <a:solidFill>
                <a:srgbClr val="FEFEFE"/>
              </a:solidFill>
              <a:ln w="38100">
                <a:solidFill>
                  <a:srgbClr val="E1260B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16592550" y="1828800"/>
                <a:ext cx="1714500" cy="904875"/>
              </a:xfrm>
              <a:prstGeom prst="roundRect">
                <a:avLst>
                  <a:gd name="adj" fmla="val 22105"/>
                </a:avLst>
              </a:prstGeom>
              <a:solidFill>
                <a:srgbClr val="FEFEFE"/>
              </a:solidFill>
              <a:ln w="38100">
                <a:solidFill>
                  <a:srgbClr val="E1260B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390948" y="2092166"/>
                <a:ext cx="1919288" cy="47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20" dirty="0">
                    <a:solidFill>
                      <a:srgbClr val="E1260B"/>
                    </a:solidFill>
                    <a:latin typeface="Calibri"/>
                    <a:ea typeface="Calibri"/>
                    <a:cs typeface="Calibri"/>
                  </a:rPr>
                  <a:t>Compression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6867822" y="2096929"/>
                <a:ext cx="1702260" cy="47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20" dirty="0">
                    <a:solidFill>
                      <a:srgbClr val="E1260B"/>
                    </a:solidFill>
                    <a:latin typeface="Calibri"/>
                    <a:ea typeface="Calibri"/>
                    <a:cs typeface="Calibri"/>
                  </a:rPr>
                  <a:t>Portability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3399770" y="1984058"/>
                <a:ext cx="3471179" cy="944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650" b="1" dirty="0">
                    <a:solidFill>
                      <a:srgbClr val="E1260B"/>
                    </a:solidFill>
                    <a:latin typeface="Arial Narrow"/>
                    <a:ea typeface="Arial Narrow"/>
                    <a:cs typeface="Arial Narrow"/>
                  </a:rPr>
                  <a:t>DECOUPLED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3420725" y="2914650"/>
              <a:ext cx="2409825" cy="1152525"/>
              <a:chOff x="13420725" y="2914650"/>
              <a:chExt cx="2409825" cy="1152525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13592175" y="3086100"/>
                <a:ext cx="4572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85750">
                    <a:moveTo>
                      <a:pt x="0" y="0"/>
                    </a:moveTo>
                    <a:lnTo>
                      <a:pt x="457200" y="28575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13592175" y="3086100"/>
                <a:ext cx="952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0075">
                    <a:moveTo>
                      <a:pt x="0" y="0"/>
                    </a:moveTo>
                    <a:lnTo>
                      <a:pt x="0" y="600075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3592175" y="3371850"/>
                <a:ext cx="4572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314325">
                    <a:moveTo>
                      <a:pt x="0" y="314325"/>
                    </a:moveTo>
                    <a:lnTo>
                      <a:pt x="457200" y="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14049375" y="3124200"/>
                <a:ext cx="5334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247650">
                    <a:moveTo>
                      <a:pt x="0" y="247650"/>
                    </a:moveTo>
                    <a:lnTo>
                      <a:pt x="533400" y="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14049375" y="3371850"/>
                <a:ext cx="533400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09575">
                    <a:moveTo>
                      <a:pt x="0" y="0"/>
                    </a:moveTo>
                    <a:lnTo>
                      <a:pt x="533400" y="409575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14582775" y="3124200"/>
                <a:ext cx="9525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57225">
                    <a:moveTo>
                      <a:pt x="0" y="0"/>
                    </a:moveTo>
                    <a:lnTo>
                      <a:pt x="0" y="657225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14582775" y="3124200"/>
                <a:ext cx="51435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314325">
                    <a:moveTo>
                      <a:pt x="0" y="0"/>
                    </a:moveTo>
                    <a:lnTo>
                      <a:pt x="514350" y="314325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14582775" y="3438525"/>
                <a:ext cx="5143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342900">
                    <a:moveTo>
                      <a:pt x="0" y="342900"/>
                    </a:moveTo>
                    <a:lnTo>
                      <a:pt x="514350" y="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15097125" y="3105150"/>
                <a:ext cx="390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90525" h="333375">
                    <a:moveTo>
                      <a:pt x="0" y="333375"/>
                    </a:moveTo>
                    <a:lnTo>
                      <a:pt x="390525" y="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15487650" y="3105150"/>
                <a:ext cx="1714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28625">
                    <a:moveTo>
                      <a:pt x="0" y="0"/>
                    </a:moveTo>
                    <a:lnTo>
                      <a:pt x="171450" y="428625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15097125" y="3438525"/>
                <a:ext cx="5619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61975" h="95250">
                    <a:moveTo>
                      <a:pt x="0" y="0"/>
                    </a:moveTo>
                    <a:lnTo>
                      <a:pt x="561975" y="9525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15097125" y="3438525"/>
                <a:ext cx="2286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457200">
                    <a:moveTo>
                      <a:pt x="0" y="0"/>
                    </a:moveTo>
                    <a:lnTo>
                      <a:pt x="228600" y="45720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15325725" y="3533775"/>
                <a:ext cx="33337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61950">
                    <a:moveTo>
                      <a:pt x="333375" y="0"/>
                    </a:moveTo>
                    <a:lnTo>
                      <a:pt x="0" y="361950"/>
                    </a:lnTo>
                  </a:path>
                </a:pathLst>
              </a:custGeom>
              <a:noFill/>
              <a:ln w="30480" cap="rnd">
                <a:solidFill>
                  <a:srgbClr val="E1260B"/>
                </a:solidFill>
                <a:round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13420725" y="2914650"/>
                <a:ext cx="342900" cy="342900"/>
                <a:chOff x="13420725" y="2914650"/>
                <a:chExt cx="342900" cy="342900"/>
              </a:xfrm>
            </p:grpSpPr>
            <p:sp>
              <p:nvSpPr>
                <p:cNvPr id="55" name="Ellipse 55"/>
                <p:cNvSpPr/>
                <p:nvPr/>
              </p:nvSpPr>
              <p:spPr>
                <a:xfrm>
                  <a:off x="13420725" y="2914650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56" name="Ellipse 56"/>
                <p:cNvSpPr/>
                <p:nvPr/>
              </p:nvSpPr>
              <p:spPr>
                <a:xfrm>
                  <a:off x="13547408" y="2969895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3494068" y="3084195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3494068" y="3183255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13420725" y="3514725"/>
                <a:ext cx="342900" cy="342900"/>
                <a:chOff x="13420725" y="3514725"/>
                <a:chExt cx="342900" cy="342900"/>
              </a:xfrm>
            </p:grpSpPr>
            <p:sp>
              <p:nvSpPr>
                <p:cNvPr id="60" name="Ellipse 60"/>
                <p:cNvSpPr/>
                <p:nvPr/>
              </p:nvSpPr>
              <p:spPr>
                <a:xfrm>
                  <a:off x="13420725" y="3514725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61" name="Ellipse 61"/>
                <p:cNvSpPr/>
                <p:nvPr/>
              </p:nvSpPr>
              <p:spPr>
                <a:xfrm>
                  <a:off x="13547408" y="3569970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13494068" y="3684270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3494068" y="3783330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13877925" y="3200400"/>
                <a:ext cx="342900" cy="342900"/>
                <a:chOff x="13877925" y="3200400"/>
                <a:chExt cx="342900" cy="342900"/>
              </a:xfrm>
            </p:grpSpPr>
            <p:sp>
              <p:nvSpPr>
                <p:cNvPr id="65" name="Ellipse 65"/>
                <p:cNvSpPr/>
                <p:nvPr/>
              </p:nvSpPr>
              <p:spPr>
                <a:xfrm>
                  <a:off x="13877925" y="3200400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66" name="Ellipse 66"/>
                <p:cNvSpPr/>
                <p:nvPr/>
              </p:nvSpPr>
              <p:spPr>
                <a:xfrm>
                  <a:off x="14004608" y="3255645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13951268" y="3369945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13951268" y="3469005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74" name="Group 74"/>
              <p:cNvGrpSpPr/>
              <p:nvPr/>
            </p:nvGrpSpPr>
            <p:grpSpPr>
              <a:xfrm>
                <a:off x="14411325" y="2952750"/>
                <a:ext cx="342900" cy="342900"/>
                <a:chOff x="14411325" y="2952750"/>
                <a:chExt cx="342900" cy="342900"/>
              </a:xfrm>
            </p:grpSpPr>
            <p:sp>
              <p:nvSpPr>
                <p:cNvPr id="70" name="Ellipse 70"/>
                <p:cNvSpPr/>
                <p:nvPr/>
              </p:nvSpPr>
              <p:spPr>
                <a:xfrm>
                  <a:off x="14411325" y="2952750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71" name="Ellipse 71"/>
                <p:cNvSpPr/>
                <p:nvPr/>
              </p:nvSpPr>
              <p:spPr>
                <a:xfrm>
                  <a:off x="14538008" y="3007995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14484668" y="3122295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14484668" y="3221355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14411325" y="3609975"/>
                <a:ext cx="342900" cy="342900"/>
                <a:chOff x="14411325" y="3609975"/>
                <a:chExt cx="342900" cy="342900"/>
              </a:xfrm>
            </p:grpSpPr>
            <p:sp>
              <p:nvSpPr>
                <p:cNvPr id="75" name="Ellipse 75"/>
                <p:cNvSpPr/>
                <p:nvPr/>
              </p:nvSpPr>
              <p:spPr>
                <a:xfrm>
                  <a:off x="14411325" y="3609975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76" name="Ellipse 76"/>
                <p:cNvSpPr/>
                <p:nvPr/>
              </p:nvSpPr>
              <p:spPr>
                <a:xfrm>
                  <a:off x="14538008" y="3665220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4484668" y="3779520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4484668" y="3878580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84" name="Group 84"/>
              <p:cNvGrpSpPr/>
              <p:nvPr/>
            </p:nvGrpSpPr>
            <p:grpSpPr>
              <a:xfrm>
                <a:off x="14925675" y="3267075"/>
                <a:ext cx="342900" cy="342900"/>
                <a:chOff x="14925675" y="3267075"/>
                <a:chExt cx="342900" cy="342900"/>
              </a:xfrm>
            </p:grpSpPr>
            <p:sp>
              <p:nvSpPr>
                <p:cNvPr id="80" name="Ellipse 80"/>
                <p:cNvSpPr/>
                <p:nvPr/>
              </p:nvSpPr>
              <p:spPr>
                <a:xfrm>
                  <a:off x="14925675" y="3267075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15052358" y="3322320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14999018" y="3436620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14999018" y="3535680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89" name="Group 89"/>
              <p:cNvGrpSpPr/>
              <p:nvPr/>
            </p:nvGrpSpPr>
            <p:grpSpPr>
              <a:xfrm>
                <a:off x="15316200" y="2933700"/>
                <a:ext cx="342900" cy="342900"/>
                <a:chOff x="15316200" y="2933700"/>
                <a:chExt cx="342900" cy="342900"/>
              </a:xfrm>
            </p:grpSpPr>
            <p:sp>
              <p:nvSpPr>
                <p:cNvPr id="85" name="Ellipse 85"/>
                <p:cNvSpPr/>
                <p:nvPr/>
              </p:nvSpPr>
              <p:spPr>
                <a:xfrm>
                  <a:off x="15316200" y="2933700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86" name="Ellipse 86"/>
                <p:cNvSpPr/>
                <p:nvPr/>
              </p:nvSpPr>
              <p:spPr>
                <a:xfrm>
                  <a:off x="15442882" y="2988945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87" name="Freeform 87"/>
                <p:cNvSpPr/>
                <p:nvPr/>
              </p:nvSpPr>
              <p:spPr>
                <a:xfrm>
                  <a:off x="15389542" y="3103245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88" name="Freeform 88"/>
                <p:cNvSpPr/>
                <p:nvPr/>
              </p:nvSpPr>
              <p:spPr>
                <a:xfrm>
                  <a:off x="15389542" y="3202305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94" name="Group 94"/>
              <p:cNvGrpSpPr/>
              <p:nvPr/>
            </p:nvGrpSpPr>
            <p:grpSpPr>
              <a:xfrm>
                <a:off x="15487650" y="3362325"/>
                <a:ext cx="342900" cy="342900"/>
                <a:chOff x="15487650" y="3362325"/>
                <a:chExt cx="342900" cy="342900"/>
              </a:xfrm>
            </p:grpSpPr>
            <p:sp>
              <p:nvSpPr>
                <p:cNvPr id="90" name="Ellipse 90"/>
                <p:cNvSpPr/>
                <p:nvPr/>
              </p:nvSpPr>
              <p:spPr>
                <a:xfrm>
                  <a:off x="15487650" y="3362325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91" name="Ellipse 91"/>
                <p:cNvSpPr/>
                <p:nvPr/>
              </p:nvSpPr>
              <p:spPr>
                <a:xfrm>
                  <a:off x="15614332" y="3417570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92" name="Freeform 92"/>
                <p:cNvSpPr/>
                <p:nvPr/>
              </p:nvSpPr>
              <p:spPr>
                <a:xfrm>
                  <a:off x="15560992" y="3531870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15560992" y="3630930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  <p:grpSp>
            <p:nvGrpSpPr>
              <p:cNvPr id="99" name="Group 99"/>
              <p:cNvGrpSpPr/>
              <p:nvPr/>
            </p:nvGrpSpPr>
            <p:grpSpPr>
              <a:xfrm>
                <a:off x="15154275" y="3724275"/>
                <a:ext cx="342900" cy="342900"/>
                <a:chOff x="15154275" y="3724275"/>
                <a:chExt cx="342900" cy="342900"/>
              </a:xfrm>
            </p:grpSpPr>
            <p:sp>
              <p:nvSpPr>
                <p:cNvPr id="95" name="Ellipse 95"/>
                <p:cNvSpPr/>
                <p:nvPr/>
              </p:nvSpPr>
              <p:spPr>
                <a:xfrm>
                  <a:off x="15154275" y="3724275"/>
                  <a:ext cx="342900" cy="342900"/>
                </a:xfrm>
                <a:prstGeom prst="ellipse">
                  <a:avLst/>
                </a:prstGeom>
                <a:gradFill>
                  <a:gsLst>
                    <a:gs pos="0">
                      <a:srgbClr val="FEF3EF"/>
                    </a:gs>
                    <a:gs pos="52000">
                      <a:srgbClr val="FEF3EF"/>
                    </a:gs>
                    <a:gs pos="100000">
                      <a:srgbClr val="FEF3EF"/>
                    </a:gs>
                  </a:gsLst>
                  <a:lin ang="5400000" scaled="1"/>
                </a:gradFill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96" name="Ellipse 96"/>
                <p:cNvSpPr/>
                <p:nvPr/>
              </p:nvSpPr>
              <p:spPr>
                <a:xfrm>
                  <a:off x="15280958" y="3779520"/>
                  <a:ext cx="89535" cy="89535"/>
                </a:xfrm>
                <a:prstGeom prst="ellipse">
                  <a:avLst/>
                </a:pr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15227618" y="3893820"/>
                  <a:ext cx="196215" cy="9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99060">
                      <a:moveTo>
                        <a:pt x="0" y="99060"/>
                      </a:moveTo>
                      <a:cubicBezTo>
                        <a:pt x="7620" y="22860"/>
                        <a:pt x="34290" y="0"/>
                        <a:pt x="98107" y="0"/>
                      </a:cubicBezTo>
                      <a:cubicBezTo>
                        <a:pt x="161925" y="0"/>
                        <a:pt x="188595" y="22860"/>
                        <a:pt x="196215" y="9906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15227618" y="3992880"/>
                  <a:ext cx="19621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215" h="19050">
                      <a:moveTo>
                        <a:pt x="0" y="0"/>
                      </a:moveTo>
                      <a:cubicBezTo>
                        <a:pt x="65405" y="19050"/>
                        <a:pt x="130810" y="19050"/>
                        <a:pt x="196215" y="0"/>
                      </a:cubicBezTo>
                    </a:path>
                  </a:pathLst>
                </a:custGeom>
                <a:noFill/>
                <a:ln w="30480" cap="rnd">
                  <a:solidFill>
                    <a:srgbClr val="E1260B"/>
                  </a:solidFill>
                  <a:round/>
                </a:ln>
              </p:spPr>
            </p:sp>
          </p:grpSp>
        </p:grpSp>
        <p:sp>
          <p:nvSpPr>
            <p:cNvPr id="101" name="TextBox 101"/>
            <p:cNvSpPr txBox="1"/>
            <p:nvPr/>
          </p:nvSpPr>
          <p:spPr>
            <a:xfrm>
              <a:off x="12942570" y="4227195"/>
              <a:ext cx="478155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E1260B"/>
                  </a:solidFill>
                  <a:latin typeface="Calibri"/>
                  <a:ea typeface="Calibri"/>
                  <a:cs typeface="Calibri"/>
                </a:rPr>
                <a:t>support sits on the population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2026-06-23T11:37:52Z</dcterms:created>
  <dcterms:modified xsi:type="dcterms:W3CDTF">2026-06-23T11:37:52Z</dcterms:modified>
  <cp:category/>
  <cp:contentStatus/>
</cp:coreProperties>
</file>