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9507200" cy="49339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9507200" cy="4933950"/>
          </a:xfrm>
          <a:prstGeom prst="rect">
            <a:avLst/>
          </a:prstGeom>
          <a:solidFill>
            <a:srgbClr val="FEFEFE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13643467" y="225981"/>
            <a:ext cx="5674662" cy="3276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610" i="1" dirty="0">
                <a:solidFill>
                  <a:srgbClr val="6677A1"/>
                </a:solidFill>
                <a:latin typeface="Arial"/>
                <a:ea typeface="Arial"/>
                <a:cs typeface="Arial"/>
              </a:rPr>
              <a:t xml:space="preserve">dialogue depth: ΔR² = 0.001 · </a:t>
            </a:r>
            <a:r>
              <a:rPr lang="en-US" sz="1610" i="1" dirty="0">
                <a:solidFill>
                  <a:srgbClr val="EE3F2D"/>
                </a:solidFill>
                <a:latin typeface="Arial"/>
                <a:ea typeface="Arial"/>
                <a:cs typeface="Arial"/>
              </a:rPr>
              <a:t>circulation: ΔR² = 0.216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3261348" y="548402"/>
            <a:ext cx="6046303" cy="3124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540" i="1" dirty="0">
                <a:solidFill>
                  <a:srgbClr val="6677A1"/>
                </a:solidFill>
                <a:latin typeface="Arial"/>
                <a:ea typeface="Arial"/>
                <a:cs typeface="Arial"/>
              </a:rPr>
              <a:t>portability is organized by selection, not by dialogue depth.</a:t>
            </a:r>
          </a:p>
        </p:txBody>
      </p:sp>
      <p:sp>
        <p:nvSpPr>
          <p:cNvPr id="5" name="Rectangle 5"/>
          <p:cNvSpPr/>
          <p:nvPr/>
        </p:nvSpPr>
        <p:spPr>
          <a:xfrm>
            <a:off x="280988" y="976312"/>
            <a:ext cx="5400675" cy="942975"/>
          </a:xfrm>
          <a:prstGeom prst="roundRect">
            <a:avLst>
              <a:gd name="adj" fmla="val 44444"/>
            </a:avLst>
          </a:prstGeom>
          <a:gradFill>
            <a:gsLst>
              <a:gs pos="0">
                <a:srgbClr val="FDEEEA"/>
              </a:gs>
              <a:gs pos="100000">
                <a:srgbClr val="FCEDE9"/>
              </a:gs>
            </a:gsLst>
            <a:lin ang="5400000" scaled="1"/>
          </a:gradFill>
          <a:ln w="15240">
            <a:solidFill>
              <a:srgbClr val="EFC0B6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6567488" y="976312"/>
            <a:ext cx="5391150" cy="942975"/>
          </a:xfrm>
          <a:prstGeom prst="roundRect">
            <a:avLst>
              <a:gd name="adj" fmla="val 44444"/>
            </a:avLst>
          </a:prstGeom>
          <a:gradFill>
            <a:gsLst>
              <a:gs pos="0">
                <a:srgbClr val="FABBAB"/>
              </a:gs>
              <a:gs pos="100000">
                <a:srgbClr val="FBBEAC"/>
              </a:gs>
            </a:gsLst>
            <a:lin ang="5400000" scaled="1"/>
          </a:gradFill>
          <a:ln w="15240">
            <a:solidFill>
              <a:srgbClr val="DE816C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12739688" y="976312"/>
            <a:ext cx="6057900" cy="942975"/>
          </a:xfrm>
          <a:prstGeom prst="roundRect">
            <a:avLst>
              <a:gd name="adj" fmla="val 44444"/>
            </a:avLst>
          </a:prstGeom>
          <a:gradFill>
            <a:gsLst>
              <a:gs pos="0">
                <a:srgbClr val="EB462F"/>
              </a:gs>
              <a:gs pos="100000">
                <a:srgbClr val="E9442C"/>
              </a:gs>
            </a:gsLst>
            <a:lin ang="5400000" scaled="1"/>
          </a:gradFill>
          <a:ln w="15240">
            <a:solidFill>
              <a:srgbClr val="D83220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5886450" y="1352550"/>
            <a:ext cx="476250" cy="180975"/>
          </a:xfrm>
          <a:custGeom>
            <a:avLst/>
            <a:gdLst/>
            <a:ahLst/>
            <a:cxnLst/>
            <a:rect l="l" t="t" r="r" b="b"/>
            <a:pathLst>
              <a:path w="476250" h="180975">
                <a:moveTo>
                  <a:pt x="0" y="90488"/>
                </a:moveTo>
                <a:lnTo>
                  <a:pt x="476250" y="90488"/>
                </a:lnTo>
                <a:moveTo>
                  <a:pt x="381000" y="0"/>
                </a:moveTo>
                <a:lnTo>
                  <a:pt x="476250" y="90488"/>
                </a:lnTo>
                <a:lnTo>
                  <a:pt x="381000" y="180975"/>
                </a:lnTo>
              </a:path>
            </a:pathLst>
          </a:custGeom>
          <a:noFill/>
          <a:ln w="25718" cap="sq">
            <a:solidFill>
              <a:srgbClr val="6F82AD"/>
            </a:solidFill>
            <a:miter lim="800000"/>
          </a:ln>
        </p:spPr>
      </p:sp>
      <p:sp>
        <p:nvSpPr>
          <p:cNvPr id="9" name="Freeform 9"/>
          <p:cNvSpPr/>
          <p:nvPr/>
        </p:nvSpPr>
        <p:spPr>
          <a:xfrm>
            <a:off x="12115800" y="1352550"/>
            <a:ext cx="476250" cy="180975"/>
          </a:xfrm>
          <a:custGeom>
            <a:avLst/>
            <a:gdLst/>
            <a:ahLst/>
            <a:cxnLst/>
            <a:rect l="l" t="t" r="r" b="b"/>
            <a:pathLst>
              <a:path w="476250" h="180975">
                <a:moveTo>
                  <a:pt x="0" y="90488"/>
                </a:moveTo>
                <a:lnTo>
                  <a:pt x="476250" y="90488"/>
                </a:lnTo>
                <a:moveTo>
                  <a:pt x="381000" y="0"/>
                </a:moveTo>
                <a:lnTo>
                  <a:pt x="476250" y="90488"/>
                </a:lnTo>
                <a:lnTo>
                  <a:pt x="381000" y="180975"/>
                </a:lnTo>
              </a:path>
            </a:pathLst>
          </a:custGeom>
          <a:noFill/>
          <a:ln w="25718" cap="sq">
            <a:solidFill>
              <a:srgbClr val="6F82AD"/>
            </a:solidFill>
            <a:miter lim="800000"/>
          </a:ln>
        </p:spPr>
      </p:sp>
      <p:grpSp>
        <p:nvGrpSpPr>
          <p:cNvPr id="16" name="Group 16"/>
          <p:cNvGrpSpPr/>
          <p:nvPr/>
        </p:nvGrpSpPr>
        <p:grpSpPr>
          <a:xfrm>
            <a:off x="1536961" y="1183005"/>
            <a:ext cx="16998118" cy="683895"/>
            <a:chOff x="1536961" y="1183005"/>
            <a:chExt cx="16998118" cy="683895"/>
          </a:xfrm>
        </p:grpSpPr>
        <p:sp>
          <p:nvSpPr>
            <p:cNvPr id="10" name="TextBox 10"/>
            <p:cNvSpPr txBox="1"/>
            <p:nvPr/>
          </p:nvSpPr>
          <p:spPr>
            <a:xfrm>
              <a:off x="1536961" y="1183005"/>
              <a:ext cx="3155428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050505"/>
                  </a:solidFill>
                  <a:latin typeface="Arial"/>
                  <a:ea typeface="Arial"/>
                  <a:cs typeface="Arial"/>
                </a:rPr>
                <a:t>Shared-prior baseline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257711" y="1501140"/>
              <a:ext cx="171392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rgbClr val="050505"/>
                  </a:solidFill>
                  <a:latin typeface="Arial"/>
                  <a:ea typeface="Arial"/>
                  <a:cs typeface="Arial"/>
                </a:rPr>
                <a:t>candidate pool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73752" y="1183005"/>
              <a:ext cx="3302446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050505"/>
                  </a:solidFill>
                  <a:latin typeface="Arial"/>
                  <a:ea typeface="Arial"/>
                  <a:cs typeface="Arial"/>
                </a:rPr>
                <a:t>Generative redundancy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339870" y="1501140"/>
              <a:ext cx="397021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rgbClr val="050505"/>
                  </a:solidFill>
                  <a:latin typeface="Arial"/>
                  <a:ea typeface="Arial"/>
                  <a:cs typeface="Arial"/>
                </a:rPr>
                <a:t>sets the upper bound of transfer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5054398" y="1183005"/>
              <a:ext cx="136180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050505"/>
                  </a:solidFill>
                  <a:latin typeface="Arial"/>
                  <a:ea typeface="Arial"/>
                  <a:cs typeface="Arial"/>
                </a:rPr>
                <a:t>Selection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2992672" y="1501140"/>
              <a:ext cx="554240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rgbClr val="050505"/>
                  </a:solidFill>
                  <a:latin typeface="Arial"/>
                  <a:ea typeface="Arial"/>
                  <a:cs typeface="Arial"/>
                </a:rPr>
                <a:t>adoptability · exposure · community structure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382435" y="2269331"/>
            <a:ext cx="18410843" cy="982266"/>
            <a:chOff x="382435" y="2269331"/>
            <a:chExt cx="18410843" cy="982266"/>
          </a:xfrm>
        </p:grpSpPr>
        <p:sp>
          <p:nvSpPr>
            <p:cNvPr id="17" name="TextBox 17"/>
            <p:cNvSpPr txBox="1"/>
            <p:nvPr/>
          </p:nvSpPr>
          <p:spPr>
            <a:xfrm>
              <a:off x="636003" y="2270760"/>
              <a:ext cx="975893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700" b="1" dirty="0">
                  <a:solidFill>
                    <a:srgbClr val="050505"/>
                  </a:solidFill>
                  <a:latin typeface="Arial"/>
                  <a:ea typeface="Arial"/>
                  <a:cs typeface="Arial"/>
                </a:rPr>
                <a:t>100%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82435" y="2701052"/>
              <a:ext cx="1463981" cy="3124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40" dirty="0">
                  <a:solidFill>
                    <a:srgbClr val="050505"/>
                  </a:solidFill>
                  <a:latin typeface="Arial"/>
                  <a:ea typeface="Arial"/>
                  <a:cs typeface="Arial"/>
                </a:rPr>
                <a:t>candidate pool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768182" y="2269331"/>
              <a:ext cx="1150936" cy="533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620" b="1" dirty="0">
                  <a:solidFill>
                    <a:srgbClr val="050505"/>
                  </a:solidFill>
                  <a:latin typeface="Arial"/>
                  <a:ea typeface="Arial"/>
                  <a:cs typeface="Arial"/>
                </a:rPr>
                <a:t>99.3%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345853" y="2682002"/>
              <a:ext cx="1976545" cy="3124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40" dirty="0">
                  <a:solidFill>
                    <a:srgbClr val="050505"/>
                  </a:solidFill>
                  <a:latin typeface="Arial"/>
                  <a:ea typeface="Arial"/>
                  <a:cs typeface="Arial"/>
                </a:rPr>
                <a:t>author-shuffle null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729549" y="2939177"/>
              <a:ext cx="1228201" cy="3124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40" dirty="0">
                  <a:solidFill>
                    <a:srgbClr val="050505"/>
                  </a:solidFill>
                  <a:latin typeface="Arial"/>
                  <a:ea typeface="Arial"/>
                  <a:cs typeface="Arial"/>
                </a:rPr>
                <a:t>upper bound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853228" y="2282904"/>
              <a:ext cx="1134494" cy="5257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590" b="1" dirty="0">
                  <a:solidFill>
                    <a:srgbClr val="050505"/>
                  </a:solidFill>
                  <a:latin typeface="Arial"/>
                  <a:ea typeface="Arial"/>
                  <a:cs typeface="Arial"/>
                </a:rPr>
                <a:t>84.1%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724364" y="2701052"/>
              <a:ext cx="1392222" cy="3124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40" dirty="0">
                  <a:solidFill>
                    <a:srgbClr val="050505"/>
                  </a:solidFill>
                  <a:latin typeface="Arial"/>
                  <a:ea typeface="Arial"/>
                  <a:cs typeface="Arial"/>
                </a:rPr>
                <a:t>cross-author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7158016" y="2282904"/>
              <a:ext cx="735969" cy="5257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590" b="1" dirty="0">
                  <a:solidFill>
                    <a:srgbClr val="050505"/>
                  </a:solidFill>
                  <a:latin typeface="Arial"/>
                  <a:ea typeface="Arial"/>
                  <a:cs typeface="Arial"/>
                </a:rPr>
                <a:t>~2%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6683466" y="2662952"/>
              <a:ext cx="1761268" cy="3124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40" dirty="0">
                  <a:solidFill>
                    <a:srgbClr val="050505"/>
                  </a:solidFill>
                  <a:latin typeface="Arial"/>
                  <a:ea typeface="Arial"/>
                  <a:cs typeface="Arial"/>
                </a:rPr>
                <a:t>cross-community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6334923" y="2920127"/>
              <a:ext cx="2458355" cy="3124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40" dirty="0">
                  <a:solidFill>
                    <a:srgbClr val="050505"/>
                  </a:solidFill>
                  <a:latin typeface="Arial"/>
                  <a:ea typeface="Arial"/>
                  <a:cs typeface="Arial"/>
                </a:rPr>
                <a:t>66% remain clique-bound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2446318" y="2886075"/>
            <a:ext cx="2579846" cy="533400"/>
            <a:chOff x="12446318" y="2886075"/>
            <a:chExt cx="2579846" cy="533400"/>
          </a:xfrm>
        </p:grpSpPr>
        <p:sp>
          <p:nvSpPr>
            <p:cNvPr id="28" name="TextBox 28"/>
            <p:cNvSpPr txBox="1"/>
            <p:nvPr/>
          </p:nvSpPr>
          <p:spPr>
            <a:xfrm>
              <a:off x="12446318" y="2943225"/>
              <a:ext cx="135826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111111"/>
                  </a:solidFill>
                  <a:latin typeface="Arial"/>
                  <a:ea typeface="Arial"/>
                  <a:cs typeface="Arial"/>
                </a:rPr>
                <a:t>cross-author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3967936" y="2886075"/>
              <a:ext cx="105822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111111"/>
                  </a:solidFill>
                  <a:latin typeface="Arial"/>
                  <a:ea typeface="Arial"/>
                  <a:cs typeface="Arial"/>
                </a:rPr>
                <a:t>community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4037945" y="3114675"/>
              <a:ext cx="91821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111111"/>
                  </a:solidFill>
                  <a:latin typeface="Arial"/>
                  <a:ea typeface="Arial"/>
                  <a:cs typeface="Arial"/>
                </a:rPr>
                <a:t>boundary</a:t>
              </a:r>
            </a:p>
          </p:txBody>
        </p:sp>
      </p:grpSp>
      <p:sp>
        <p:nvSpPr>
          <p:cNvPr id="32" name="Freeform 32"/>
          <p:cNvSpPr/>
          <p:nvPr/>
        </p:nvSpPr>
        <p:spPr>
          <a:xfrm>
            <a:off x="333375" y="3438525"/>
            <a:ext cx="18697575" cy="1314450"/>
          </a:xfrm>
          <a:custGeom>
            <a:avLst/>
            <a:gdLst/>
            <a:ahLst/>
            <a:cxnLst/>
            <a:rect l="l" t="t" r="r" b="b"/>
            <a:pathLst>
              <a:path w="18697575" h="1314450">
                <a:moveTo>
                  <a:pt x="0" y="0"/>
                </a:moveTo>
                <a:cubicBezTo>
                  <a:pt x="2009775" y="2858"/>
                  <a:pt x="3990975" y="31433"/>
                  <a:pt x="6000750" y="57150"/>
                </a:cubicBezTo>
                <a:cubicBezTo>
                  <a:pt x="7686675" y="80010"/>
                  <a:pt x="9382125" y="108585"/>
                  <a:pt x="11077575" y="123825"/>
                </a:cubicBezTo>
                <a:lnTo>
                  <a:pt x="13506450" y="423862"/>
                </a:lnTo>
                <a:cubicBezTo>
                  <a:pt x="13544550" y="561975"/>
                  <a:pt x="13601700" y="790575"/>
                  <a:pt x="13668375" y="962025"/>
                </a:cubicBezTo>
                <a:cubicBezTo>
                  <a:pt x="13706475" y="1066800"/>
                  <a:pt x="13744575" y="1143000"/>
                  <a:pt x="13811250" y="1166812"/>
                </a:cubicBezTo>
                <a:cubicBezTo>
                  <a:pt x="13896975" y="1190625"/>
                  <a:pt x="14049375" y="1192530"/>
                  <a:pt x="14277975" y="1209675"/>
                </a:cubicBezTo>
                <a:cubicBezTo>
                  <a:pt x="15287625" y="1245870"/>
                  <a:pt x="16811625" y="1254442"/>
                  <a:pt x="18697575" y="1268730"/>
                </a:cubicBezTo>
                <a:lnTo>
                  <a:pt x="18697575" y="1314450"/>
                </a:lnTo>
                <a:lnTo>
                  <a:pt x="0" y="1285875"/>
                </a:lnTo>
                <a:close/>
              </a:path>
            </a:pathLst>
          </a:custGeom>
          <a:gradFill>
            <a:gsLst>
              <a:gs pos="0">
                <a:srgbClr val="F7A18F"/>
              </a:gs>
              <a:gs pos="32100">
                <a:srgbClr val="F7A18F"/>
              </a:gs>
              <a:gs pos="32100">
                <a:srgbClr val="F58D79"/>
              </a:gs>
              <a:gs pos="59200">
                <a:srgbClr val="F58D79"/>
              </a:gs>
              <a:gs pos="59200">
                <a:srgbClr val="F1705A"/>
              </a:gs>
              <a:gs pos="72300">
                <a:srgbClr val="F1705A"/>
              </a:gs>
              <a:gs pos="72300">
                <a:srgbClr val="EC4128"/>
              </a:gs>
              <a:gs pos="100000">
                <a:srgbClr val="EC4128"/>
              </a:gs>
            </a:gsLst>
            <a:lin ang="0" scaled="1"/>
          </a:gradFill>
          <a:ln>
            <a:noFill/>
          </a:ln>
        </p:spPr>
      </p:sp>
      <p:grpSp>
        <p:nvGrpSpPr>
          <p:cNvPr id="38" name="Group 38"/>
          <p:cNvGrpSpPr/>
          <p:nvPr/>
        </p:nvGrpSpPr>
        <p:grpSpPr>
          <a:xfrm>
            <a:off x="1114425" y="2762250"/>
            <a:ext cx="16449675" cy="1943100"/>
            <a:chOff x="1114425" y="2762250"/>
            <a:chExt cx="16449675" cy="1943100"/>
          </a:xfrm>
        </p:grpSpPr>
        <p:sp>
          <p:nvSpPr>
            <p:cNvPr id="33" name="Line 33"/>
            <p:cNvSpPr/>
            <p:nvPr/>
          </p:nvSpPr>
          <p:spPr>
            <a:xfrm>
              <a:off x="1114425" y="3038475"/>
              <a:ext cx="9525" cy="400050"/>
            </a:xfrm>
            <a:custGeom>
              <a:avLst/>
              <a:gdLst/>
              <a:ahLst/>
              <a:cxnLst/>
              <a:rect l="l" t="t" r="r" b="b"/>
              <a:pathLst>
                <a:path w="9525" h="400050">
                  <a:moveTo>
                    <a:pt x="0" y="0"/>
                  </a:moveTo>
                  <a:lnTo>
                    <a:pt x="0" y="400050"/>
                  </a:lnTo>
                </a:path>
              </a:pathLst>
            </a:custGeom>
            <a:noFill/>
            <a:ln w="10954">
              <a:solidFill>
                <a:srgbClr val="ABABAB"/>
              </a:solidFill>
              <a:prstDash val="dash"/>
            </a:ln>
          </p:spPr>
        </p:sp>
        <p:sp>
          <p:nvSpPr>
            <p:cNvPr id="34" name="Line 34"/>
            <p:cNvSpPr/>
            <p:nvPr/>
          </p:nvSpPr>
          <p:spPr>
            <a:xfrm>
              <a:off x="6334125" y="303847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10954">
              <a:solidFill>
                <a:srgbClr val="ABABAB"/>
              </a:solidFill>
              <a:prstDash val="dash"/>
            </a:ln>
          </p:spPr>
        </p:sp>
        <p:sp>
          <p:nvSpPr>
            <p:cNvPr id="35" name="Line 35"/>
            <p:cNvSpPr/>
            <p:nvPr/>
          </p:nvSpPr>
          <p:spPr>
            <a:xfrm>
              <a:off x="11420475" y="3038475"/>
              <a:ext cx="9525" cy="523875"/>
            </a:xfrm>
            <a:custGeom>
              <a:avLst/>
              <a:gdLst/>
              <a:ahLst/>
              <a:cxnLst/>
              <a:rect l="l" t="t" r="r" b="b"/>
              <a:pathLst>
                <a:path w="9525" h="523875">
                  <a:moveTo>
                    <a:pt x="0" y="0"/>
                  </a:moveTo>
                  <a:lnTo>
                    <a:pt x="0" y="523875"/>
                  </a:lnTo>
                </a:path>
              </a:pathLst>
            </a:custGeom>
            <a:noFill/>
            <a:ln w="10954">
              <a:solidFill>
                <a:srgbClr val="ABABAB"/>
              </a:solidFill>
              <a:prstDash val="dash"/>
            </a:ln>
          </p:spPr>
        </p:sp>
        <p:sp>
          <p:nvSpPr>
            <p:cNvPr id="36" name="Line 36"/>
            <p:cNvSpPr/>
            <p:nvPr/>
          </p:nvSpPr>
          <p:spPr>
            <a:xfrm>
              <a:off x="13849350" y="2762250"/>
              <a:ext cx="9525" cy="1095375"/>
            </a:xfrm>
            <a:custGeom>
              <a:avLst/>
              <a:gdLst/>
              <a:ahLst/>
              <a:cxnLst/>
              <a:rect l="l" t="t" r="r" b="b"/>
              <a:pathLst>
                <a:path w="9525" h="1095375">
                  <a:moveTo>
                    <a:pt x="0" y="0"/>
                  </a:moveTo>
                  <a:lnTo>
                    <a:pt x="0" y="1095375"/>
                  </a:lnTo>
                </a:path>
              </a:pathLst>
            </a:custGeom>
            <a:noFill/>
            <a:ln w="10954">
              <a:solidFill>
                <a:srgbClr val="ABABAB"/>
              </a:solidFill>
              <a:prstDash val="dash"/>
            </a:ln>
          </p:spPr>
        </p:sp>
        <p:sp>
          <p:nvSpPr>
            <p:cNvPr id="37" name="Line 37"/>
            <p:cNvSpPr/>
            <p:nvPr/>
          </p:nvSpPr>
          <p:spPr>
            <a:xfrm>
              <a:off x="17554575" y="3219450"/>
              <a:ext cx="9525" cy="1485900"/>
            </a:xfrm>
            <a:custGeom>
              <a:avLst/>
              <a:gdLst/>
              <a:ahLst/>
              <a:cxnLst/>
              <a:rect l="l" t="t" r="r" b="b"/>
              <a:pathLst>
                <a:path w="9525" h="1485900">
                  <a:moveTo>
                    <a:pt x="0" y="0"/>
                  </a:moveTo>
                  <a:lnTo>
                    <a:pt x="0" y="1485900"/>
                  </a:lnTo>
                </a:path>
              </a:pathLst>
            </a:custGeom>
            <a:noFill/>
            <a:ln w="10954">
              <a:solidFill>
                <a:srgbClr val="ABABAB"/>
              </a:solidFill>
              <a:prstDash val="dash"/>
            </a:ln>
          </p:spPr>
        </p:sp>
      </p:grpSp>
      <p:sp>
        <p:nvSpPr>
          <p:cNvPr id="39" name="TextBox 39"/>
          <p:cNvSpPr txBox="1"/>
          <p:nvPr/>
        </p:nvSpPr>
        <p:spPr>
          <a:xfrm>
            <a:off x="14617065" y="3949065"/>
            <a:ext cx="218198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i="1" dirty="0">
                <a:solidFill>
                  <a:srgbClr val="EF3F29"/>
                </a:solidFill>
                <a:latin typeface="Arial"/>
                <a:ea typeface="Arial"/>
                <a:cs typeface="Arial"/>
              </a:rPr>
              <a:t>the hardest filter</a:t>
            </a:r>
          </a:p>
        </p:txBody>
      </p:sp>
      <p:sp>
        <p:nvSpPr>
          <p:cNvPr id="40" name="Freeform 40"/>
          <p:cNvSpPr/>
          <p:nvPr/>
        </p:nvSpPr>
        <p:spPr>
          <a:xfrm>
            <a:off x="14220825" y="4181475"/>
            <a:ext cx="304800" cy="295275"/>
          </a:xfrm>
          <a:custGeom>
            <a:avLst/>
            <a:gdLst/>
            <a:ahLst/>
            <a:cxnLst/>
            <a:rect l="l" t="t" r="r" b="b"/>
            <a:pathLst>
              <a:path w="304800" h="295275">
                <a:moveTo>
                  <a:pt x="304800" y="0"/>
                </a:moveTo>
                <a:lnTo>
                  <a:pt x="0" y="295275"/>
                </a:lnTo>
                <a:moveTo>
                  <a:pt x="0" y="295275"/>
                </a:moveTo>
                <a:lnTo>
                  <a:pt x="57150" y="142875"/>
                </a:lnTo>
                <a:moveTo>
                  <a:pt x="0" y="295275"/>
                </a:moveTo>
                <a:lnTo>
                  <a:pt x="161925" y="257175"/>
                </a:lnTo>
              </a:path>
            </a:pathLst>
          </a:custGeom>
          <a:noFill/>
          <a:ln w="30480" cap="sq">
            <a:solidFill>
              <a:srgbClr val="EF3F29"/>
            </a:solidFill>
            <a:miter lim="800000"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2026-06-23T11:37:51Z</dcterms:created>
  <dcterms:modified xsi:type="dcterms:W3CDTF">2026-06-23T11:37:51Z</dcterms:modified>
  <cp:category/>
  <cp:contentStatus/>
</cp:coreProperties>
</file>